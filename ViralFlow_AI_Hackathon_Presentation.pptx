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solidFill>
              <a:srgbClr val="0A0A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474720" cy="411480"/>
          </a:xfrm>
          <a:prstGeom prst="roundRect">
            <a:avLst/>
          </a:prstGeom>
          <a:solidFill>
            <a:srgbClr val="1618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F0FF"/>
                </a:solidFill>
              </a:defRPr>
            </a:pPr>
            <a:r>
              <a:t>AUTONOMOUS AGENTIC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CCFF00"/>
                </a:solidFill>
              </a:defRPr>
            </a:pPr>
            <a:r>
              <a:t>VIRALFLOW AI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Self-Improving Multi-Agent Content Engine for Short-Form Video Creation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A0A5B9"/>
                </a:solidFill>
              </a:defRPr>
            </a:pPr>
            <a:r>
              <a:t>Automatically transforms live web and social trends into fully-rendered, fact-checked 9:16 vertical short-form videos for TikTok, YouTube Shorts, and Instagram Reels.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F0FF"/>
                </a:solidFill>
              </a:defRPr>
            </a:pPr>
            <a:r>
              <a:t>Live App: https://my-viralflow-ai.vercel.app  |  GitHub: Ibrahim2637/ViralFlow.Ai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solidFill>
              <a:srgbClr val="0A0A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</a:defRPr>
            </a:pPr>
            <a:r>
              <a:t>VIRALFLOW AI HACKATHON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PROBLEM: SHORT-FORM CONTENT BOTTLENECK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61823"/>
          </a:solidFill>
          <a:ln>
            <a:solidFill>
              <a:srgbClr val="28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CCFF00"/>
                </a:solidFill>
              </a:defRPr>
            </a:pPr>
            <a:r>
              <a:t>4-6 Hours Spent Per Video</a:t>
            </a:r>
          </a:p>
          <a:p>
            <a:br/>
            <a:pPr>
              <a:defRPr sz="1400">
                <a:solidFill>
                  <a:srgbClr val="A0A5B9"/>
                </a:solidFill>
              </a:defRPr>
            </a:pPr>
            <a:r>
              <a:t>Creators and marketers waste hours daily researching trending topics, drafting scripts, and editing short-form timeline cuts.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389120"/>
          </a:xfrm>
          <a:prstGeom prst="roundRect">
            <a:avLst/>
          </a:prstGeom>
          <a:solidFill>
            <a:srgbClr val="161823"/>
          </a:solidFill>
          <a:ln>
            <a:solidFill>
              <a:srgbClr val="28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CCFF00"/>
                </a:solidFill>
              </a:defRPr>
            </a:pPr>
            <a:r>
              <a:t>AI Hallucination and Risk</a:t>
            </a:r>
          </a:p>
          <a:p>
            <a:br/>
            <a:pPr>
              <a:defRPr sz="1400">
                <a:solidFill>
                  <a:srgbClr val="A0A5B9"/>
                </a:solidFill>
              </a:defRPr>
            </a:pPr>
            <a:r>
              <a:t>Generic AI script tools output unverified numbers, fake guarantees, and high-risk claims that ruin brand reputation.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291840" cy="4389120"/>
          </a:xfrm>
          <a:prstGeom prst="roundRect">
            <a:avLst/>
          </a:prstGeom>
          <a:solidFill>
            <a:srgbClr val="161823"/>
          </a:solidFill>
          <a:ln>
            <a:solidFill>
              <a:srgbClr val="28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CCFF00"/>
                </a:solidFill>
              </a:defRPr>
            </a:pPr>
            <a:r>
              <a:t>Creator Burnout</a:t>
            </a:r>
          </a:p>
          <a:p>
            <a:br/>
            <a:pPr>
              <a:defRPr sz="1400">
                <a:solidFill>
                  <a:srgbClr val="A0A5B9"/>
                </a:solidFill>
              </a:defRPr>
            </a:pPr>
            <a:r>
              <a:t>Maintaining daily 9:16 vertical video output across TikTok, Shorts, and Reels is exhausting, causing content drop-off.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solidFill>
              <a:srgbClr val="0A0A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</a:defRPr>
            </a:pPr>
            <a:r>
              <a:t>VIRALFLOW AI HACKATHON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SOLUTION: VIRALFLOW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618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0FF"/>
                </a:solidFill>
              </a:defRPr>
            </a:pPr>
            <a:r>
              <a:t>Creator DNA Engine</a:t>
            </a:r>
          </a:p>
          <a:p>
            <a:br/>
            <a:pPr>
              <a:defRPr sz="1400">
                <a:solidFill>
                  <a:srgbClr val="FFFFFF"/>
                </a:solidFill>
              </a:defRPr>
            </a:pPr>
            <a:r>
              <a:t>Learns audience demographics, creator tone, vocabulary, and proven hook patterns for strict brand voice alignment.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389120"/>
          </a:xfrm>
          <a:prstGeom prst="roundRect">
            <a:avLst/>
          </a:prstGeom>
          <a:solidFill>
            <a:srgbClr val="1618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0FF"/>
                </a:solidFill>
              </a:defRPr>
            </a:pPr>
            <a:r>
              <a:t>Factual Guardrail Queue</a:t>
            </a:r>
          </a:p>
          <a:p>
            <a:br/>
            <a:pPr>
              <a:defRPr sz="1400">
                <a:solidFill>
                  <a:srgbClr val="FFFFFF"/>
                </a:solidFill>
              </a:defRPr>
            </a:pPr>
            <a:r>
              <a:t>Audits every generated claim for numerical accuracy and time-sensitivity before video compilation.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291840" cy="4389120"/>
          </a:xfrm>
          <a:prstGeom prst="roundRect">
            <a:avLst/>
          </a:prstGeom>
          <a:solidFill>
            <a:srgbClr val="1618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0FF"/>
                </a:solidFill>
              </a:defRPr>
            </a:pPr>
            <a:r>
              <a:t>9:16 Vertical Video Renderer</a:t>
            </a:r>
          </a:p>
          <a:p>
            <a:br/>
            <a:pPr>
              <a:defRPr sz="1400">
                <a:solidFill>
                  <a:srgbClr val="FFFFFF"/>
                </a:solidFill>
              </a:defRPr>
            </a:pPr>
            <a:r>
              <a:t>Combines ElevenLabs AI voiceover, Pexels portrait B-roll, and Shotstack MP4 video compilation automatically.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solidFill>
              <a:srgbClr val="0A0A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</a:defRPr>
            </a:pPr>
            <a:r>
              <a:t>VIRALFLOW AI HACKATHON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TECHNICAL ARCHITECTURE AND AGENT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161823"/>
          </a:solidFill>
          <a:ln>
            <a:solidFill>
              <a:srgbClr val="28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CCFF00"/>
                </a:solidFill>
              </a:defRPr>
            </a:pPr>
            <a:r>
              <a:t>1. Frontend and Studio: </a:t>
            </a:r>
            <a:r>
              <a:rPr sz="1400" b="0">
                <a:solidFill>
                  <a:srgbClr val="FFFFFF"/>
                </a:solidFill>
              </a:rPr>
              <a:t>Next.js 16 (Turbopack, App Router), TypeScript, Tailwind CSS, HTML5 9:16 Video Player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10698480" cy="1005840"/>
          </a:xfrm>
          <a:prstGeom prst="roundRect">
            <a:avLst/>
          </a:prstGeom>
          <a:solidFill>
            <a:srgbClr val="161823"/>
          </a:solidFill>
          <a:ln>
            <a:solidFill>
              <a:srgbClr val="28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CCFF00"/>
                </a:solidFill>
              </a:defRPr>
            </a:pPr>
            <a:r>
              <a:t>2. Multi-Agent Engine: </a:t>
            </a:r>
            <a:r>
              <a:rPr sz="1400" b="0">
                <a:solidFill>
                  <a:srgbClr val="FFFFFF"/>
                </a:solidFill>
              </a:rPr>
              <a:t>Google Gemini 3.6 Flash and OpenRouter (GPT-4o-mini) for trend scoring, script writing, and fact checking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10698480" cy="1005840"/>
          </a:xfrm>
          <a:prstGeom prst="roundRect">
            <a:avLst/>
          </a:prstGeom>
          <a:solidFill>
            <a:srgbClr val="161823"/>
          </a:solidFill>
          <a:ln>
            <a:solidFill>
              <a:srgbClr val="28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CCFF00"/>
                </a:solidFill>
              </a:defRPr>
            </a:pPr>
            <a:r>
              <a:t>3. n8n Orchestration: </a:t>
            </a:r>
            <a:r>
              <a:rPr sz="1400" b="0">
                <a:solidFill>
                  <a:srgbClr val="FFFFFF"/>
                </a:solidFill>
              </a:rPr>
              <a:t>18-node n8n workflow (viralflow-generate webhook) for background trend ingestion and agent dispatch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212080"/>
            <a:ext cx="10698480" cy="1005840"/>
          </a:xfrm>
          <a:prstGeom prst="roundRect">
            <a:avLst/>
          </a:prstGeom>
          <a:solidFill>
            <a:srgbClr val="161823"/>
          </a:solidFill>
          <a:ln>
            <a:solidFill>
              <a:srgbClr val="28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CCFF00"/>
                </a:solidFill>
              </a:defRPr>
            </a:pPr>
            <a:r>
              <a:t>4. Voice and Render Pipeline: </a:t>
            </a:r>
            <a:r>
              <a:rPr sz="1400" b="0">
                <a:solidFill>
                  <a:srgbClr val="FFFFFF"/>
                </a:solidFill>
              </a:rPr>
              <a:t>ElevenLabs Speech Synthesis + Pexels Portrait B-roll Search + Shotstack 9:16 MP4 Video Render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solidFill>
              <a:srgbClr val="0A0A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</a:defRPr>
            </a:pPr>
            <a:r>
              <a:t>VIRALFLOW AI HACKATHON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CORE FEATURES AND DEMO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61823"/>
          </a:solidFill>
          <a:ln>
            <a:solidFill>
              <a:srgbClr val="28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0FF"/>
                </a:solidFill>
              </a:defRPr>
            </a:pPr>
            <a:r>
              <a:t>Trend Radar</a:t>
            </a:r>
          </a:p>
          <a:p>
            <a:br/>
            <a:pPr>
              <a:defRPr sz="1400">
                <a:solidFill>
                  <a:srgbClr val="A0A5B9"/>
                </a:solidFill>
              </a:defRPr>
            </a:pPr>
            <a:r>
              <a:t>Scans live YouTube and Tavily web queries, scoring opportunity vectors based on momentum and audience fit.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61823"/>
          </a:solidFill>
          <a:ln>
            <a:solidFill>
              <a:srgbClr val="28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0FF"/>
                </a:solidFill>
              </a:defRPr>
            </a:pPr>
            <a:r>
              <a:t>Strategy Lab</a:t>
            </a:r>
          </a:p>
          <a:p>
            <a:br/>
            <a:pPr>
              <a:defRPr sz="1400">
                <a:solidFill>
                  <a:srgbClr val="A0A5B9"/>
                </a:solidFill>
              </a:defRPr>
            </a:pPr>
            <a:r>
              <a:t>Synthesizes strategic hook variations tailored to creator hook patterns.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61823"/>
          </a:solidFill>
          <a:ln>
            <a:solidFill>
              <a:srgbClr val="28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0FF"/>
                </a:solidFill>
              </a:defRPr>
            </a:pPr>
            <a:r>
              <a:t>Script Studio</a:t>
            </a:r>
          </a:p>
          <a:p>
            <a:br/>
            <a:pPr>
              <a:defRPr sz="1400">
                <a:solidFill>
                  <a:srgbClr val="A0A5B9"/>
                </a:solidFill>
              </a:defRPr>
            </a:pPr>
            <a:r>
              <a:t>Interactive scene-by-scene script editor, visual prompt controls, and fact-checking queue.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31920"/>
            <a:ext cx="5120640" cy="2011680"/>
          </a:xfrm>
          <a:prstGeom prst="roundRect">
            <a:avLst/>
          </a:prstGeom>
          <a:solidFill>
            <a:srgbClr val="161823"/>
          </a:solidFill>
          <a:ln>
            <a:solidFill>
              <a:srgbClr val="28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0FF"/>
                </a:solidFill>
              </a:defRPr>
            </a:pPr>
            <a:r>
              <a:t>Approval and Publishing</a:t>
            </a:r>
          </a:p>
          <a:p>
            <a:br/>
            <a:pPr>
              <a:defRPr sz="1400">
                <a:solidFill>
                  <a:srgbClr val="A0A5B9"/>
                </a:solidFill>
              </a:defRPr>
            </a:pPr>
            <a:r>
              <a:t>Live 9:16 vertical video playback preview with automated publishing rules.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solidFill>
              <a:srgbClr val="0A0A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</a:defRPr>
            </a:pPr>
            <a:r>
              <a:t>VIRALFLOW AI — HACKATHON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READY TO DEMO AND PRESENT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45920"/>
            <a:ext cx="9418320" cy="4389120"/>
          </a:xfrm>
          <a:prstGeom prst="roundRect">
            <a:avLst/>
          </a:prstGeom>
          <a:solidFill>
            <a:srgbClr val="1618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CCFF00"/>
                </a:solidFill>
              </a:defRPr>
            </a:pPr>
            <a:r>
              <a:t>ViralFlow AI turns live web trends into ready-to-publish short-form videos automatically.</a:t>
            </a:r>
          </a:p>
          <a:p>
            <a:br/>
            <a:pPr>
              <a:defRPr sz="1800" b="1">
                <a:solidFill>
                  <a:srgbClr val="00F0FF"/>
                </a:solidFill>
              </a:defRPr>
            </a:pPr>
            <a:r>
              <a:t>Live Application URL: https://my-viralflow-ai.vercel.app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GitHub Repository: https://github.com/Ibrahim2637/ViralFlow.Ai</a:t>
            </a:r>
          </a:p>
          <a:p>
            <a:br/>
            <a:pPr>
              <a:defRPr sz="2000" b="1">
                <a:solidFill>
                  <a:srgbClr val="CCFF00"/>
                </a:solidFill>
              </a:defRPr>
            </a:pPr>
            <a:r>
              <a:t>Thank you for evaluating ViralFlow AI!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